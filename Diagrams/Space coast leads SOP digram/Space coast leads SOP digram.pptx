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E8A34-8B35-FA89-8A54-B37684D53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4F467-5884-F4C5-28C4-84EC05877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57FA7-0A66-C4F9-3014-3F35E695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4B148-CD12-1AB4-C8D9-D96581E4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B8CE9-D896-56E9-725C-2E4D7178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7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DD02E-DCAD-CB1B-7ABC-0C6741B67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669D7-CAB6-1C3D-0CD5-3E184B676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771E5-9D15-C46D-01C3-EF159029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6C3E9-79BD-8AA2-81D6-51FA20B8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7907D-0A2A-12FC-AD03-BFBEA64F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6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249C-5D50-3B50-4176-8E999C9B5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E95C2-513F-2681-E798-2CFFAD6F1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4A3DB-2E4F-5224-CEB6-207BB1DDA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84C7A-C382-98AF-7EB5-EC1EE358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D3F3B-0154-E69E-3F5C-D485B719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0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B4A5-02EC-D2F1-A2FF-3193A2964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E5905-3452-C378-71FA-342DC16BC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0BD1F-DA98-4C39-5034-20F6A4390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44598-0B0A-5B05-62BC-346CE30D8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98BB1-D9CE-E9D2-E163-55BC1A41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1B7AB-2B80-783F-B07F-5D760B79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8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8C40-CEC0-CCBD-5C85-F3493AAF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623FB-F0ED-4A4B-CAB1-74D0828B7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EB7E5-39F5-1B09-861A-D64ED1A9F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A925F-79EB-D3B6-2FA7-90EE285D5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7B57B-47B7-3FA0-43BC-A5B838AA7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987371-0020-09FB-84E6-CB3BACEBA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845EF5-4413-C96D-F694-6FB4E2FA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C79DEC-37BD-FB38-5A61-3C3112F2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7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37BD-1E96-235C-1FA5-1EDC16F65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2967E-2EF3-113F-0A1F-61563E12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4CD595-D2E9-4A39-11E9-AEA17192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41E39-230D-F883-56C9-1E95F34DE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6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43E57-097A-1A51-A407-F4680AE3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1A14C0-C40D-7200-3A59-09427AAB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74C15-923E-DC67-7415-85F5FD0C5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5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13AD-0B0C-C3E9-0F5E-AFA333BC7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1ACD6-26B2-3B60-BAFD-1C5647219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9BC82-168F-F28D-87C9-0341328B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0A012-6A9E-90C8-EA9D-05793B76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3D02B-BBF1-A1A5-255D-1D986E323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F3AB8-D09F-B114-D019-E5B6516D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83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1EE3-1BE7-FA03-4230-F2F466EB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55B53-22F7-0992-4E17-4C69C6637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F4374-F3DA-0CAF-4268-18BD57183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23C33-3EC8-AF7E-F98F-DADADEF3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84638-030F-0124-09D7-3E80B108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0E974-AE4C-3AEC-36A7-0C91D4AE3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71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9CA8-DDDF-1CD8-071B-713ED3DE1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FDBB9-11E9-FAD5-F710-F25392006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1FBB9-0D4E-9101-F21E-8972FF7ED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4483-A4DF-2B36-920C-6B2854E4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98EEB-F732-AC60-4DAD-042D0AB0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2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EF6BC1-3D0F-DA9D-3EE0-D1D6BA588B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04A01-8495-55EE-D94A-4A78E43F8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F8A12-1ADE-C239-9D8D-5106E45AD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ED8AC-AB08-9503-EC36-A2DC9D2B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56384-8083-8981-6E69-B431D7F4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06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79A5B2-8B81-F8FA-8F62-A9B8987B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97A35-C285-A196-46B1-D692AEA9E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67FCC-40AE-867F-12C0-54E1392D0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8AEF3-35E7-44F3-9CEB-7C31936BAE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144B7-070F-114E-3422-AC161DA47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53DBE-7364-F25E-9E28-F10EF10A6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0442BE-AB91-45D5-8489-7B463A8EB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0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8224F062-CF79-AA0F-FCB4-1FC473F93AEC}"/>
              </a:ext>
            </a:extLst>
          </p:cNvPr>
          <p:cNvSpPr/>
          <p:nvPr/>
        </p:nvSpPr>
        <p:spPr>
          <a:xfrm>
            <a:off x="1513408" y="1032095"/>
            <a:ext cx="1616772" cy="932506"/>
          </a:xfrm>
          <a:prstGeom prst="flowChart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Apollo.io</a:t>
            </a:r>
            <a:b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Lead Generation tool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840450A-A644-06B9-B6D2-45E77A185E37}"/>
              </a:ext>
            </a:extLst>
          </p:cNvPr>
          <p:cNvSpPr/>
          <p:nvPr/>
        </p:nvSpPr>
        <p:spPr>
          <a:xfrm>
            <a:off x="3719464" y="1032095"/>
            <a:ext cx="1616772" cy="932506"/>
          </a:xfrm>
          <a:prstGeom prst="flowChart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Zapier</a:t>
            </a:r>
          </a:p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Middleman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FF9DC6A-B40A-4D55-09AA-B87684434EAE}"/>
              </a:ext>
            </a:extLst>
          </p:cNvPr>
          <p:cNvSpPr/>
          <p:nvPr/>
        </p:nvSpPr>
        <p:spPr>
          <a:xfrm>
            <a:off x="5925520" y="1027569"/>
            <a:ext cx="1520174" cy="932506"/>
          </a:xfrm>
          <a:prstGeom prst="flowChart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Go High Level</a:t>
            </a:r>
          </a:p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Automation</a:t>
            </a:r>
          </a:p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F7FB23-04D4-F710-9059-7B3900DA6A63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130180" y="1498348"/>
            <a:ext cx="5892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D7C20E-01E7-3BA7-E8B4-82CF128D3CF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336236" y="1493822"/>
            <a:ext cx="589284" cy="4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F8388225-CB00-9140-5664-D448DEF916B0}"/>
              </a:ext>
            </a:extLst>
          </p:cNvPr>
          <p:cNvSpPr/>
          <p:nvPr/>
        </p:nvSpPr>
        <p:spPr>
          <a:xfrm>
            <a:off x="8034978" y="1027568"/>
            <a:ext cx="1644659" cy="932507"/>
          </a:xfrm>
          <a:prstGeom prst="flowChart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Clients -</a:t>
            </a:r>
          </a:p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Contractors</a:t>
            </a:r>
          </a:p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Prospecting</a:t>
            </a:r>
            <a:b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Email and SMS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808E82-445C-2AEA-BBD1-8EE70D4BA2A7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7445694" y="1493822"/>
            <a:ext cx="5892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25DE4007-17C3-0805-90E5-FAEECC953240}"/>
              </a:ext>
            </a:extLst>
          </p:cNvPr>
          <p:cNvSpPr/>
          <p:nvPr/>
        </p:nvSpPr>
        <p:spPr>
          <a:xfrm>
            <a:off x="8034977" y="2430855"/>
            <a:ext cx="1644659" cy="932507"/>
          </a:xfrm>
          <a:prstGeom prst="flowChart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Email and SMS</a:t>
            </a:r>
          </a:p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Sequences 3 Days apart.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A170B7-3BE5-3161-0C96-5ED8C2B80B79}"/>
              </a:ext>
            </a:extLst>
          </p:cNvPr>
          <p:cNvCxnSpPr>
            <a:cxnSpLocks/>
            <a:stCxn id="14" idx="2"/>
            <a:endCxn id="23" idx="0"/>
          </p:cNvCxnSpPr>
          <p:nvPr/>
        </p:nvCxnSpPr>
        <p:spPr>
          <a:xfrm flipH="1">
            <a:off x="8857307" y="1960075"/>
            <a:ext cx="1" cy="4707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Flowchart: Process 39">
            <a:extLst>
              <a:ext uri="{FF2B5EF4-FFF2-40B4-BE49-F238E27FC236}">
                <a16:creationId xmlns:a16="http://schemas.microsoft.com/office/drawing/2014/main" id="{D040C254-3AE9-284D-D4B8-57CD998DCD26}"/>
              </a:ext>
            </a:extLst>
          </p:cNvPr>
          <p:cNvSpPr/>
          <p:nvPr/>
        </p:nvSpPr>
        <p:spPr>
          <a:xfrm>
            <a:off x="5925520" y="2430854"/>
            <a:ext cx="1644659" cy="932507"/>
          </a:xfrm>
          <a:prstGeom prst="flowChartProces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Client books an appointment.</a:t>
            </a:r>
            <a:br>
              <a:rPr lang="en-US" sz="1200" dirty="0"/>
            </a:br>
            <a:r>
              <a:rPr lang="en-US" sz="1200" dirty="0"/>
              <a:t>Calendar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1EDEEA-55A2-D61F-380E-6A4E7D9B6D1C}"/>
              </a:ext>
            </a:extLst>
          </p:cNvPr>
          <p:cNvCxnSpPr>
            <a:cxnSpLocks/>
            <a:stCxn id="23" idx="1"/>
            <a:endCxn id="40" idx="3"/>
          </p:cNvCxnSpPr>
          <p:nvPr/>
        </p:nvCxnSpPr>
        <p:spPr>
          <a:xfrm flipH="1" flipV="1">
            <a:off x="7570179" y="2897108"/>
            <a:ext cx="46479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8" name="Flowchart: Process 57">
            <a:extLst>
              <a:ext uri="{FF2B5EF4-FFF2-40B4-BE49-F238E27FC236}">
                <a16:creationId xmlns:a16="http://schemas.microsoft.com/office/drawing/2014/main" id="{97EC5018-3BE7-8439-6BE0-CF948AE5B54D}"/>
              </a:ext>
            </a:extLst>
          </p:cNvPr>
          <p:cNvSpPr/>
          <p:nvPr/>
        </p:nvSpPr>
        <p:spPr>
          <a:xfrm>
            <a:off x="3691577" y="2430854"/>
            <a:ext cx="1644659" cy="932507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Send Documents</a:t>
            </a:r>
          </a:p>
          <a:p>
            <a:r>
              <a:rPr lang="en-US" sz="1200" dirty="0"/>
              <a:t>Contract with Payment link</a:t>
            </a:r>
          </a:p>
        </p:txBody>
      </p:sp>
      <p:sp>
        <p:nvSpPr>
          <p:cNvPr id="59" name="Flowchart: Process 58">
            <a:extLst>
              <a:ext uri="{FF2B5EF4-FFF2-40B4-BE49-F238E27FC236}">
                <a16:creationId xmlns:a16="http://schemas.microsoft.com/office/drawing/2014/main" id="{BEA9A749-8D14-BB33-6A37-2C761FA3A075}"/>
              </a:ext>
            </a:extLst>
          </p:cNvPr>
          <p:cNvSpPr/>
          <p:nvPr/>
        </p:nvSpPr>
        <p:spPr>
          <a:xfrm>
            <a:off x="8034977" y="4137500"/>
            <a:ext cx="1644659" cy="932507"/>
          </a:xfrm>
          <a:prstGeom prst="flowChartProces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No show/Cancelled</a:t>
            </a:r>
            <a:br>
              <a:rPr lang="en-US" sz="1200" dirty="0"/>
            </a:br>
            <a:r>
              <a:rPr lang="en-US" sz="1200" dirty="0"/>
              <a:t>Did not proceed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C7A6053-5870-60D9-4964-82F574C0C845}"/>
              </a:ext>
            </a:extLst>
          </p:cNvPr>
          <p:cNvCxnSpPr>
            <a:cxnSpLocks/>
            <a:stCxn id="40" idx="2"/>
            <a:endCxn id="59" idx="1"/>
          </p:cNvCxnSpPr>
          <p:nvPr/>
        </p:nvCxnSpPr>
        <p:spPr>
          <a:xfrm rot="16200000" flipH="1">
            <a:off x="6771217" y="3339993"/>
            <a:ext cx="1240393" cy="128712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5" name="Flowchart: Process 64">
            <a:extLst>
              <a:ext uri="{FF2B5EF4-FFF2-40B4-BE49-F238E27FC236}">
                <a16:creationId xmlns:a16="http://schemas.microsoft.com/office/drawing/2014/main" id="{2E79B2B5-8C1F-573D-F537-79235CD6DB81}"/>
              </a:ext>
            </a:extLst>
          </p:cNvPr>
          <p:cNvSpPr/>
          <p:nvPr/>
        </p:nvSpPr>
        <p:spPr>
          <a:xfrm>
            <a:off x="8034977" y="5536258"/>
            <a:ext cx="1644659" cy="932507"/>
          </a:xfrm>
          <a:prstGeom prst="flowChart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Nurturing email/ SMS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7F769BE-3A2A-8E2C-C4F4-9949584C93D5}"/>
              </a:ext>
            </a:extLst>
          </p:cNvPr>
          <p:cNvCxnSpPr>
            <a:cxnSpLocks/>
            <a:stCxn id="59" idx="2"/>
            <a:endCxn id="65" idx="0"/>
          </p:cNvCxnSpPr>
          <p:nvPr/>
        </p:nvCxnSpPr>
        <p:spPr>
          <a:xfrm>
            <a:off x="8857307" y="5070007"/>
            <a:ext cx="0" cy="4662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B4A8FEA-28C9-3DD6-A45A-58935FACDCA4}"/>
              </a:ext>
            </a:extLst>
          </p:cNvPr>
          <p:cNvCxnSpPr>
            <a:cxnSpLocks/>
            <a:stCxn id="40" idx="1"/>
            <a:endCxn id="58" idx="3"/>
          </p:cNvCxnSpPr>
          <p:nvPr/>
        </p:nvCxnSpPr>
        <p:spPr>
          <a:xfrm flipH="1">
            <a:off x="5336236" y="2897108"/>
            <a:ext cx="5892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3" name="Flowchart: Process 72">
            <a:extLst>
              <a:ext uri="{FF2B5EF4-FFF2-40B4-BE49-F238E27FC236}">
                <a16:creationId xmlns:a16="http://schemas.microsoft.com/office/drawing/2014/main" id="{32076F1E-F908-B396-19FC-4304A5F6FD40}"/>
              </a:ext>
            </a:extLst>
          </p:cNvPr>
          <p:cNvSpPr/>
          <p:nvPr/>
        </p:nvSpPr>
        <p:spPr>
          <a:xfrm>
            <a:off x="1513408" y="2430853"/>
            <a:ext cx="1644659" cy="932507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Payment received</a:t>
            </a:r>
            <a:br>
              <a:rPr lang="en-US" sz="1200" dirty="0"/>
            </a:br>
            <a:r>
              <a:rPr lang="en-US" sz="1200" dirty="0"/>
              <a:t>Contract signed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9F85F59-1A3A-4324-B573-A85F096B83EE}"/>
              </a:ext>
            </a:extLst>
          </p:cNvPr>
          <p:cNvCxnSpPr>
            <a:cxnSpLocks/>
            <a:stCxn id="58" idx="1"/>
            <a:endCxn id="73" idx="3"/>
          </p:cNvCxnSpPr>
          <p:nvPr/>
        </p:nvCxnSpPr>
        <p:spPr>
          <a:xfrm flipH="1" flipV="1">
            <a:off x="3158067" y="2897107"/>
            <a:ext cx="53351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3B278221-F27C-6D56-60C5-EF77943EE158}"/>
              </a:ext>
            </a:extLst>
          </p:cNvPr>
          <p:cNvSpPr txBox="1"/>
          <p:nvPr/>
        </p:nvSpPr>
        <p:spPr>
          <a:xfrm>
            <a:off x="789453" y="130915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B03C094-0EB6-FBD1-5DE1-3F43CEB36704}"/>
              </a:ext>
            </a:extLst>
          </p:cNvPr>
          <p:cNvSpPr txBox="1"/>
          <p:nvPr/>
        </p:nvSpPr>
        <p:spPr>
          <a:xfrm>
            <a:off x="814628" y="4024265"/>
            <a:ext cx="751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79" name="Flowchart: Process 78">
            <a:extLst>
              <a:ext uri="{FF2B5EF4-FFF2-40B4-BE49-F238E27FC236}">
                <a16:creationId xmlns:a16="http://schemas.microsoft.com/office/drawing/2014/main" id="{A5A39806-2580-8A51-F992-B1D1F725B3C3}"/>
              </a:ext>
            </a:extLst>
          </p:cNvPr>
          <p:cNvSpPr/>
          <p:nvPr/>
        </p:nvSpPr>
        <p:spPr>
          <a:xfrm>
            <a:off x="1510696" y="3829612"/>
            <a:ext cx="1644659" cy="932507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Add to database</a:t>
            </a:r>
            <a:br>
              <a:rPr lang="en-US" sz="1200" dirty="0"/>
            </a:br>
            <a:r>
              <a:rPr lang="en-US" sz="1200" dirty="0"/>
              <a:t>Onboarding via SMS/Email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B417A7F-F724-A25E-93C5-6820228D6275}"/>
              </a:ext>
            </a:extLst>
          </p:cNvPr>
          <p:cNvCxnSpPr>
            <a:cxnSpLocks/>
            <a:stCxn id="73" idx="2"/>
            <a:endCxn id="79" idx="0"/>
          </p:cNvCxnSpPr>
          <p:nvPr/>
        </p:nvCxnSpPr>
        <p:spPr>
          <a:xfrm flipH="1">
            <a:off x="2333026" y="3363360"/>
            <a:ext cx="2712" cy="4662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" name="Flowchart: Process 85">
            <a:extLst>
              <a:ext uri="{FF2B5EF4-FFF2-40B4-BE49-F238E27FC236}">
                <a16:creationId xmlns:a16="http://schemas.microsoft.com/office/drawing/2014/main" id="{9818E919-51F5-FC85-2659-1803445A3E5F}"/>
              </a:ext>
            </a:extLst>
          </p:cNvPr>
          <p:cNvSpPr/>
          <p:nvPr/>
        </p:nvSpPr>
        <p:spPr>
          <a:xfrm>
            <a:off x="10144434" y="2430852"/>
            <a:ext cx="1644659" cy="932507"/>
          </a:xfrm>
          <a:prstGeom prst="flowChart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When done with 4 Emails/SMS. Wait 30 days. 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760EFE0-F12E-84FB-E4F4-E7690F94F382}"/>
              </a:ext>
            </a:extLst>
          </p:cNvPr>
          <p:cNvCxnSpPr>
            <a:cxnSpLocks/>
            <a:stCxn id="23" idx="3"/>
            <a:endCxn id="86" idx="1"/>
          </p:cNvCxnSpPr>
          <p:nvPr/>
        </p:nvCxnSpPr>
        <p:spPr>
          <a:xfrm flipV="1">
            <a:off x="9679636" y="2897106"/>
            <a:ext cx="464798" cy="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22F9C9B2-10FE-E9D4-E5D7-30BC10A00145}"/>
              </a:ext>
            </a:extLst>
          </p:cNvPr>
          <p:cNvCxnSpPr>
            <a:cxnSpLocks/>
            <a:stCxn id="86" idx="2"/>
            <a:endCxn id="23" idx="2"/>
          </p:cNvCxnSpPr>
          <p:nvPr/>
        </p:nvCxnSpPr>
        <p:spPr>
          <a:xfrm rot="5400000">
            <a:off x="9912035" y="2308632"/>
            <a:ext cx="3" cy="2109457"/>
          </a:xfrm>
          <a:prstGeom prst="bentConnector3">
            <a:avLst>
              <a:gd name="adj1" fmla="val 762010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2F1AE3A-E279-21B1-9DEB-4C3CB86BC7F2}"/>
              </a:ext>
            </a:extLst>
          </p:cNvPr>
          <p:cNvSpPr txBox="1"/>
          <p:nvPr/>
        </p:nvSpPr>
        <p:spPr>
          <a:xfrm>
            <a:off x="5925520" y="225001"/>
            <a:ext cx="2109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VA – If automation fails to recognize the niche of the contractor, VA will manually add it through tags.</a:t>
            </a: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D79D9EDE-22FB-FEE3-D90A-2D68EDB45734}"/>
              </a:ext>
            </a:extLst>
          </p:cNvPr>
          <p:cNvCxnSpPr>
            <a:cxnSpLocks/>
            <a:stCxn id="65" idx="2"/>
            <a:endCxn id="23" idx="2"/>
          </p:cNvCxnSpPr>
          <p:nvPr/>
        </p:nvCxnSpPr>
        <p:spPr>
          <a:xfrm rot="5400000" flipH="1">
            <a:off x="7304605" y="4916064"/>
            <a:ext cx="3105403" cy="12700"/>
          </a:xfrm>
          <a:prstGeom prst="bentConnector5">
            <a:avLst>
              <a:gd name="adj1" fmla="val -7361"/>
              <a:gd name="adj2" fmla="val -8275039"/>
              <a:gd name="adj3" fmla="val 9271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81B90014-B137-16A8-9C86-C69687264426}"/>
              </a:ext>
            </a:extLst>
          </p:cNvPr>
          <p:cNvSpPr/>
          <p:nvPr/>
        </p:nvSpPr>
        <p:spPr>
          <a:xfrm>
            <a:off x="174293" y="5489525"/>
            <a:ext cx="209739" cy="206721"/>
          </a:xfrm>
          <a:prstGeom prst="flowChart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384AC-3183-57B7-7802-4D474DFEC1AC}"/>
              </a:ext>
            </a:extLst>
          </p:cNvPr>
          <p:cNvSpPr txBox="1"/>
          <p:nvPr/>
        </p:nvSpPr>
        <p:spPr>
          <a:xfrm>
            <a:off x="384032" y="5454385"/>
            <a:ext cx="1611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5EEE6-2E44-821A-868E-C7D58E2FB661}"/>
              </a:ext>
            </a:extLst>
          </p:cNvPr>
          <p:cNvSpPr txBox="1"/>
          <p:nvPr/>
        </p:nvSpPr>
        <p:spPr>
          <a:xfrm>
            <a:off x="92812" y="5142248"/>
            <a:ext cx="1611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Pipeline stage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6FD32810-7F42-374D-2E98-F429CD583038}"/>
              </a:ext>
            </a:extLst>
          </p:cNvPr>
          <p:cNvSpPr/>
          <p:nvPr/>
        </p:nvSpPr>
        <p:spPr>
          <a:xfrm>
            <a:off x="182114" y="5834516"/>
            <a:ext cx="209739" cy="206721"/>
          </a:xfrm>
          <a:prstGeom prst="flowChartProces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8EBF5F-230B-920D-BB1E-2124D8479AD4}"/>
              </a:ext>
            </a:extLst>
          </p:cNvPr>
          <p:cNvSpPr txBox="1"/>
          <p:nvPr/>
        </p:nvSpPr>
        <p:spPr>
          <a:xfrm>
            <a:off x="391853" y="5799376"/>
            <a:ext cx="1611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Lead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607C402F-B5B1-A4FD-76AD-3CF951A42DA7}"/>
              </a:ext>
            </a:extLst>
          </p:cNvPr>
          <p:cNvSpPr/>
          <p:nvPr/>
        </p:nvSpPr>
        <p:spPr>
          <a:xfrm>
            <a:off x="182114" y="6181791"/>
            <a:ext cx="209739" cy="206721"/>
          </a:xfrm>
          <a:prstGeom prst="flowChart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428D72-E1A1-8A35-8181-8909B42E7F33}"/>
              </a:ext>
            </a:extLst>
          </p:cNvPr>
          <p:cNvSpPr txBox="1"/>
          <p:nvPr/>
        </p:nvSpPr>
        <p:spPr>
          <a:xfrm>
            <a:off x="391853" y="6146651"/>
            <a:ext cx="1611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Prospecting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65A5BDE1-020D-A8F6-0974-C1C034AFA9A0}"/>
              </a:ext>
            </a:extLst>
          </p:cNvPr>
          <p:cNvSpPr/>
          <p:nvPr/>
        </p:nvSpPr>
        <p:spPr>
          <a:xfrm>
            <a:off x="10127809" y="1027568"/>
            <a:ext cx="1644659" cy="932507"/>
          </a:xfrm>
          <a:prstGeom prst="flowChartProces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Clients – Contractors replied to prospecting emails and SMS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1DABC2-F780-0DF6-04B7-EEDFD9AA89A0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9679637" y="1493822"/>
            <a:ext cx="4481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ED32598-D753-E940-D6D8-83C742F0ACFD}"/>
              </a:ext>
            </a:extLst>
          </p:cNvPr>
          <p:cNvSpPr txBox="1"/>
          <p:nvPr/>
        </p:nvSpPr>
        <p:spPr>
          <a:xfrm>
            <a:off x="10144434" y="409666"/>
            <a:ext cx="1704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Notify users about the interest of the client.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8FDA42D-6270-5357-D224-47AC99AEB888}"/>
              </a:ext>
            </a:extLst>
          </p:cNvPr>
          <p:cNvCxnSpPr>
            <a:cxnSpLocks/>
            <a:stCxn id="17" idx="2"/>
            <a:endCxn id="40" idx="0"/>
          </p:cNvCxnSpPr>
          <p:nvPr/>
        </p:nvCxnSpPr>
        <p:spPr>
          <a:xfrm rot="5400000">
            <a:off x="8613606" y="94320"/>
            <a:ext cx="470779" cy="42022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959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0F83286C-B2F2-CA4A-C22A-6D13AF601077}"/>
              </a:ext>
            </a:extLst>
          </p:cNvPr>
          <p:cNvSpPr/>
          <p:nvPr/>
        </p:nvSpPr>
        <p:spPr>
          <a:xfrm>
            <a:off x="2663197" y="1186004"/>
            <a:ext cx="1093990" cy="552261"/>
          </a:xfrm>
          <a:prstGeom prst="flowChart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Roofing funnel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C5C20CBB-A80E-E7C7-A659-75693C3143D9}"/>
              </a:ext>
            </a:extLst>
          </p:cNvPr>
          <p:cNvSpPr/>
          <p:nvPr/>
        </p:nvSpPr>
        <p:spPr>
          <a:xfrm>
            <a:off x="2663197" y="1863505"/>
            <a:ext cx="1093990" cy="552261"/>
          </a:xfrm>
          <a:prstGeom prst="flowChart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Senior care</a:t>
            </a:r>
            <a:br>
              <a:rPr lang="en-US" sz="1200" dirty="0"/>
            </a:br>
            <a:r>
              <a:rPr lang="en-US" sz="1200" dirty="0"/>
              <a:t>funnel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908108F7-5573-FD99-ECA2-F16A512DE32E}"/>
              </a:ext>
            </a:extLst>
          </p:cNvPr>
          <p:cNvSpPr/>
          <p:nvPr/>
        </p:nvSpPr>
        <p:spPr>
          <a:xfrm>
            <a:off x="2663197" y="2541006"/>
            <a:ext cx="1093990" cy="552261"/>
          </a:xfrm>
          <a:prstGeom prst="flowChart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Landscape</a:t>
            </a:r>
          </a:p>
          <a:p>
            <a:r>
              <a:rPr lang="en-US" sz="1200" dirty="0"/>
              <a:t>funnel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930DE53-740E-86F1-11EB-FED57742F88C}"/>
              </a:ext>
            </a:extLst>
          </p:cNvPr>
          <p:cNvSpPr/>
          <p:nvPr/>
        </p:nvSpPr>
        <p:spPr>
          <a:xfrm>
            <a:off x="4911029" y="902329"/>
            <a:ext cx="5898809" cy="3829615"/>
          </a:xfrm>
          <a:prstGeom prst="roundRect">
            <a:avLst>
              <a:gd name="adj" fmla="val 461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6BD27E4F-B97C-95D0-0398-263765640970}"/>
              </a:ext>
            </a:extLst>
          </p:cNvPr>
          <p:cNvSpPr/>
          <p:nvPr/>
        </p:nvSpPr>
        <p:spPr>
          <a:xfrm>
            <a:off x="2663197" y="3218507"/>
            <a:ext cx="1093990" cy="552261"/>
          </a:xfrm>
          <a:prstGeom prst="flowChart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Solar</a:t>
            </a:r>
            <a:br>
              <a:rPr lang="en-US" sz="1200" dirty="0"/>
            </a:br>
            <a:r>
              <a:rPr lang="en-US" sz="1200" dirty="0"/>
              <a:t>funnel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DF81F6D5-0EB7-E69D-E70A-D184675D8434}"/>
              </a:ext>
            </a:extLst>
          </p:cNvPr>
          <p:cNvSpPr/>
          <p:nvPr/>
        </p:nvSpPr>
        <p:spPr>
          <a:xfrm>
            <a:off x="2663197" y="3896008"/>
            <a:ext cx="1093990" cy="552261"/>
          </a:xfrm>
          <a:prstGeom prst="flowChart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HVAC funnel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83E66599-5BE9-6ED8-CBC1-8C9096BB0D8D}"/>
              </a:ext>
            </a:extLst>
          </p:cNvPr>
          <p:cNvSpPr/>
          <p:nvPr/>
        </p:nvSpPr>
        <p:spPr>
          <a:xfrm>
            <a:off x="353085" y="784633"/>
            <a:ext cx="1474205" cy="953632"/>
          </a:xfrm>
          <a:prstGeom prst="flowChart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Leads fills up the form.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E68525E-3DE3-C835-6C28-58F85B44842C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1827290" y="1261449"/>
            <a:ext cx="835907" cy="2006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12D61A4-40F6-40E8-DA5B-53AC110EADE4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>
            <a:off x="1827290" y="1261449"/>
            <a:ext cx="835907" cy="8781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5F6DF9E-0654-2E06-39FC-AEA407499255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>
            <a:off x="1827290" y="1261449"/>
            <a:ext cx="835907" cy="15556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FFF447B-6735-F8E1-4CA4-1A4E584F988F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1827290" y="1261449"/>
            <a:ext cx="835907" cy="22331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2E619E2-C886-45FD-0B01-AE900A9A4D30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1827290" y="1261449"/>
            <a:ext cx="835907" cy="29106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783BD0-372C-EE4A-A15A-5110CBEA5DBA}"/>
              </a:ext>
            </a:extLst>
          </p:cNvPr>
          <p:cNvGrpSpPr/>
          <p:nvPr/>
        </p:nvGrpSpPr>
        <p:grpSpPr>
          <a:xfrm>
            <a:off x="5086463" y="1186004"/>
            <a:ext cx="5546786" cy="3272829"/>
            <a:chOff x="4579469" y="903836"/>
            <a:chExt cx="5546786" cy="3272829"/>
          </a:xfrm>
          <a:solidFill>
            <a:srgbClr val="00B0F0"/>
          </a:solidFill>
        </p:grpSpPr>
        <p:sp>
          <p:nvSpPr>
            <p:cNvPr id="27" name="Flowchart: Process 26">
              <a:extLst>
                <a:ext uri="{FF2B5EF4-FFF2-40B4-BE49-F238E27FC236}">
                  <a16:creationId xmlns:a16="http://schemas.microsoft.com/office/drawing/2014/main" id="{11A80A8C-4B8A-684D-D389-360D9EC6BF1C}"/>
                </a:ext>
              </a:extLst>
            </p:cNvPr>
            <p:cNvSpPr/>
            <p:nvPr/>
          </p:nvSpPr>
          <p:spPr>
            <a:xfrm>
              <a:off x="4579469" y="914399"/>
              <a:ext cx="1674922" cy="3262266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First matching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Same Niche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Same Zip code</a:t>
              </a:r>
            </a:p>
          </p:txBody>
        </p:sp>
        <p:sp>
          <p:nvSpPr>
            <p:cNvPr id="28" name="Flowchart: Process 27">
              <a:extLst>
                <a:ext uri="{FF2B5EF4-FFF2-40B4-BE49-F238E27FC236}">
                  <a16:creationId xmlns:a16="http://schemas.microsoft.com/office/drawing/2014/main" id="{FAA143DF-8E07-81BA-6FEC-C6896FAB8965}"/>
                </a:ext>
              </a:extLst>
            </p:cNvPr>
            <p:cNvSpPr/>
            <p:nvPr/>
          </p:nvSpPr>
          <p:spPr>
            <a:xfrm>
              <a:off x="6515401" y="914399"/>
              <a:ext cx="1674922" cy="3262266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Second matching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Same Niche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Different Zip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10 Back up contractors based on proximity from the lead’s zip code</a:t>
              </a:r>
            </a:p>
          </p:txBody>
        </p:sp>
        <p:sp>
          <p:nvSpPr>
            <p:cNvPr id="29" name="Flowchart: Process 28">
              <a:extLst>
                <a:ext uri="{FF2B5EF4-FFF2-40B4-BE49-F238E27FC236}">
                  <a16:creationId xmlns:a16="http://schemas.microsoft.com/office/drawing/2014/main" id="{90B57BA4-A994-E9AA-9244-7397B49DDAB9}"/>
                </a:ext>
              </a:extLst>
            </p:cNvPr>
            <p:cNvSpPr/>
            <p:nvPr/>
          </p:nvSpPr>
          <p:spPr>
            <a:xfrm>
              <a:off x="8451333" y="903836"/>
              <a:ext cx="1674922" cy="3262266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Third Matching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If all 10 backup contractors is not active or no contractors on database listed, VA will assign the contractor.</a:t>
              </a:r>
            </a:p>
          </p:txBody>
        </p:sp>
      </p:grp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64C8C563-473C-F461-695B-971D68982071}"/>
              </a:ext>
            </a:extLst>
          </p:cNvPr>
          <p:cNvSpPr/>
          <p:nvPr/>
        </p:nvSpPr>
        <p:spPr>
          <a:xfrm>
            <a:off x="3932621" y="2606507"/>
            <a:ext cx="978408" cy="48463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3996F465-FEAD-D2FC-EF6B-8A644666108B}"/>
              </a:ext>
            </a:extLst>
          </p:cNvPr>
          <p:cNvSpPr/>
          <p:nvPr/>
        </p:nvSpPr>
        <p:spPr>
          <a:xfrm>
            <a:off x="6297338" y="5208759"/>
            <a:ext cx="3125031" cy="1520984"/>
          </a:xfrm>
          <a:prstGeom prst="flowChart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Notification of  Clients (Contractors) (Applicable for Tier 1 subscription)</a:t>
            </a:r>
          </a:p>
          <a:p>
            <a:r>
              <a:rPr lang="en-US" sz="1200" dirty="0"/>
              <a:t>+</a:t>
            </a:r>
          </a:p>
          <a:p>
            <a:r>
              <a:rPr lang="en-US" sz="1200" dirty="0"/>
              <a:t>Booking of Leads on contractor’s Calendars. </a:t>
            </a:r>
          </a:p>
          <a:p>
            <a:r>
              <a:rPr lang="en-US" sz="1200" dirty="0"/>
              <a:t>( Applicable for Tier 2 subscription)</a:t>
            </a:r>
          </a:p>
          <a:p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917525-8B21-09CE-8486-1BE9AA82E9B2}"/>
              </a:ext>
            </a:extLst>
          </p:cNvPr>
          <p:cNvSpPr txBox="1"/>
          <p:nvPr/>
        </p:nvSpPr>
        <p:spPr>
          <a:xfrm>
            <a:off x="5555902" y="277125"/>
            <a:ext cx="4960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Automated matching of leads and contractor based on the list of contractors on our database.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CA61765C-E977-C881-C3DA-37F183056963}"/>
              </a:ext>
            </a:extLst>
          </p:cNvPr>
          <p:cNvSpPr/>
          <p:nvPr/>
        </p:nvSpPr>
        <p:spPr>
          <a:xfrm rot="5400000">
            <a:off x="7494094" y="4921592"/>
            <a:ext cx="731520" cy="35222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E745E0E-194B-84CA-903A-8319BA4D3A46}"/>
              </a:ext>
            </a:extLst>
          </p:cNvPr>
          <p:cNvCxnSpPr>
            <a:cxnSpLocks/>
            <a:stCxn id="35" idx="1"/>
            <a:endCxn id="8" idx="2"/>
          </p:cNvCxnSpPr>
          <p:nvPr/>
        </p:nvCxnSpPr>
        <p:spPr>
          <a:xfrm rot="16200000" flipV="1">
            <a:off x="5393185" y="2265276"/>
            <a:ext cx="283676" cy="4649662"/>
          </a:xfrm>
          <a:prstGeom prst="bentConnector3">
            <a:avLst>
              <a:gd name="adj1" fmla="val -968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25A22C4-D148-3758-01F0-CDD637DB2A4F}"/>
              </a:ext>
            </a:extLst>
          </p:cNvPr>
          <p:cNvSpPr txBox="1"/>
          <p:nvPr/>
        </p:nvSpPr>
        <p:spPr>
          <a:xfrm>
            <a:off x="3210192" y="5034306"/>
            <a:ext cx="1611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Calendar link</a:t>
            </a: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564365E3-08CB-0E6D-4822-050807E2BD0B}"/>
              </a:ext>
            </a:extLst>
          </p:cNvPr>
          <p:cNvSpPr/>
          <p:nvPr/>
        </p:nvSpPr>
        <p:spPr>
          <a:xfrm>
            <a:off x="224827" y="6409852"/>
            <a:ext cx="209739" cy="206721"/>
          </a:xfrm>
          <a:prstGeom prst="flowChart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80B25-8500-4867-6703-DE3A250B7A59}"/>
              </a:ext>
            </a:extLst>
          </p:cNvPr>
          <p:cNvSpPr txBox="1"/>
          <p:nvPr/>
        </p:nvSpPr>
        <p:spPr>
          <a:xfrm>
            <a:off x="434566" y="6374712"/>
            <a:ext cx="1611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Customer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26A876-301E-0D45-8F63-D9C3A6258A87}"/>
              </a:ext>
            </a:extLst>
          </p:cNvPr>
          <p:cNvSpPr txBox="1"/>
          <p:nvPr/>
        </p:nvSpPr>
        <p:spPr>
          <a:xfrm>
            <a:off x="143346" y="6062575"/>
            <a:ext cx="1611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Pipeline stage</a:t>
            </a:r>
          </a:p>
        </p:txBody>
      </p:sp>
    </p:spTree>
    <p:extLst>
      <p:ext uri="{BB962C8B-B14F-4D97-AF65-F5344CB8AC3E}">
        <p14:creationId xmlns:p14="http://schemas.microsoft.com/office/powerpoint/2010/main" val="1229082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3255</TotalTime>
  <Words>244</Words>
  <Application>Microsoft Office PowerPoint</Application>
  <PresentationFormat>Widescreen</PresentationFormat>
  <Paragraphs>52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Bryan Odina</dc:creator>
  <cp:lastModifiedBy>John Bryan Odina</cp:lastModifiedBy>
  <cp:revision>2</cp:revision>
  <dcterms:created xsi:type="dcterms:W3CDTF">2025-10-26T01:47:12Z</dcterms:created>
  <dcterms:modified xsi:type="dcterms:W3CDTF">2025-10-30T17:00:02Z</dcterms:modified>
</cp:coreProperties>
</file>